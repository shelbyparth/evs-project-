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2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007EA-4714-427E-9EC8-A1EAC9A9CCE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70AB4-48BE-4FA9-A59C-124DFAEE6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2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57200"/>
            <a:ext cx="1097280" cy="10972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914400" cy="9144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017520"/>
            <a:ext cx="914400" cy="9144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931920"/>
            <a:ext cx="822960" cy="8229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11480" y="45720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Smart Irrigation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Using Machine Learning</a:t>
            </a:r>
            <a:endParaRPr lang="en-US" sz="3400" dirty="0"/>
          </a:p>
        </p:txBody>
      </p:sp>
      <p:sp>
        <p:nvSpPr>
          <p:cNvPr id="10" name="Shape 4"/>
          <p:cNvSpPr/>
          <p:nvPr/>
        </p:nvSpPr>
        <p:spPr>
          <a:xfrm>
            <a:off x="411480" y="2560320"/>
            <a:ext cx="5577840" cy="502920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02920" y="257860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Farming for Sustainable Water Management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411480" y="3200400"/>
            <a:ext cx="54864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1148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11480" y="3703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Ragav Sharma (202401110012)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Kitchloo (202401110014)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Kotwal (202401110052)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Gufran Shah (202401110011)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AI-ML  |  MIT Academy of Engineering (MITAOE), Alandi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143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14300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719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57200" y="2304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 water used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agriculture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19272" y="1143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19272" y="1143000"/>
            <a:ext cx="265176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280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64992" y="1719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000" dirty="0"/>
          </a:p>
        </p:txBody>
      </p:sp>
      <p:sp>
        <p:nvSpPr>
          <p:cNvPr id="16" name="Text 11"/>
          <p:cNvSpPr/>
          <p:nvPr/>
        </p:nvSpPr>
        <p:spPr>
          <a:xfrm>
            <a:off x="3364992" y="2304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irrigation water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wasted globally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27064" y="1143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27064" y="1143000"/>
            <a:ext cx="265176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2801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72784" y="1719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000" dirty="0"/>
          </a:p>
        </p:txBody>
      </p:sp>
      <p:sp>
        <p:nvSpPr>
          <p:cNvPr id="21" name="Text 15"/>
          <p:cNvSpPr/>
          <p:nvPr/>
        </p:nvSpPr>
        <p:spPr>
          <a:xfrm>
            <a:off x="6272784" y="2304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 due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water management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11480" y="31546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the most critical resource for agriculture — feeding 8 billion people. Traditional irrigation methods are </a:t>
            </a:r>
            <a:r>
              <a:rPr lang="en-US" sz="13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outdated, inefficient, and unsustainable. </a:t>
            </a:r>
            <a:r>
              <a:rPr lang="en-US" sz="13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AI-powered systems can transform how we manage water in farming.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11480" y="3931920"/>
            <a:ext cx="2651760" cy="777240"/>
          </a:xfrm>
          <a:prstGeom prst="rect">
            <a:avLst/>
          </a:prstGeom>
          <a:solidFill>
            <a:srgbClr val="D4F5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Over-irrigation degrades soil quality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19272" y="3931920"/>
            <a:ext cx="2651760" cy="777240"/>
          </a:xfrm>
          <a:prstGeom prst="rect">
            <a:avLst/>
          </a:prstGeom>
          <a:solidFill>
            <a:srgbClr val="D4F5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410712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Under-irrigation reduces crop yield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227064" y="3931920"/>
            <a:ext cx="2651760" cy="777240"/>
          </a:xfrm>
          <a:prstGeom prst="rect">
            <a:avLst/>
          </a:prstGeom>
          <a:solidFill>
            <a:srgbClr val="D4F5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18504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 lacks real-time adaptability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8321040" cy="777240"/>
          </a:xfrm>
          <a:prstGeom prst="rect">
            <a:avLst/>
          </a:prstGeom>
          <a:solidFill>
            <a:srgbClr val="FFF3E0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irrigation leads to inefficient water usage and severely affects crop productivity.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0116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2011680"/>
            <a:ext cx="73152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48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24505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Over-irrigation causes runoff,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erosion &amp; resource depletion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20116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2011680"/>
            <a:ext cx="73152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1488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2103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Sensing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94960" y="24505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cannot monitor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conditions continuously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" y="33832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" y="3383280"/>
            <a:ext cx="73152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5204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474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Damage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88720" y="38221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moisture levels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crop stress and yield loss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17720" y="33832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383280"/>
            <a:ext cx="73152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52044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3474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Labour Cost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94960" y="382219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needs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human presence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8321040" cy="82296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AI-based smart irrigation system that predicts water requirements using Machine Learning, automating pump control for optimal efficiency.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103120"/>
            <a:ext cx="1554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103120"/>
            <a:ext cx="15544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240280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304288"/>
            <a:ext cx="786384" cy="7863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0040" y="3611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ML to predict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needs accurately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011680" y="2103120"/>
            <a:ext cx="1554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11680" y="2103120"/>
            <a:ext cx="15544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331720" y="2240280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2304288"/>
            <a:ext cx="786384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057400" y="3611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pump ON/OFF 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real-time data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749040" y="2103120"/>
            <a:ext cx="1554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749040" y="2103120"/>
            <a:ext cx="15544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069080" y="2240280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2304288"/>
            <a:ext cx="786384" cy="7863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9476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794760" y="3611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wastage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through smart control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0" y="2103120"/>
            <a:ext cx="1554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486400" y="2103120"/>
            <a:ext cx="15544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806440" y="2240280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2304288"/>
            <a:ext cx="786384" cy="7863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3212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Productivity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532120" y="3611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optimal moisture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maximum yield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223760" y="2103120"/>
            <a:ext cx="1554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223760" y="2103120"/>
            <a:ext cx="15544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543800" y="2240280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2304288"/>
            <a:ext cx="786384" cy="7863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6948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269480" y="3611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Environment-friendly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05840"/>
            <a:ext cx="8321040" cy="384048"/>
          </a:xfrm>
          <a:prstGeom prst="rect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3327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10332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17520" y="10332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System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103327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138988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426464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88720" y="142646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et al.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17520" y="142646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Irrigation Timer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60720" y="14264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 feedback, fixed scheduling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" y="2048256"/>
            <a:ext cx="8321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08483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8872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Patel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017520" y="20848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Soil Sensors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60720" y="20848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Hardware-only, no ML prediction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1480" y="270662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274320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88720" y="2743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017520" y="2743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Model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76072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high computation needed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3364992"/>
            <a:ext cx="8321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3401568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88720" y="34015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Mehta &amp; Rao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017520" y="340156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760720" y="34015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accuracy on diverse crops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11480" y="4023360"/>
            <a:ext cx="8321040" cy="621792"/>
          </a:xfrm>
          <a:prstGeom prst="rect">
            <a:avLst/>
          </a:prstGeom>
          <a:solidFill>
            <a:srgbClr val="D4F5E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059936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188720" y="405993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017520" y="405993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Python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760720" y="405993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accuracy, lightweight, scalable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11480" y="47091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Existing approaches lack the combination of ML accuracy + lightweight deployment achievable with Random Forest.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503920" y="2286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286000" y="1097280"/>
            <a:ext cx="4572000" cy="1005840"/>
          </a:xfrm>
          <a:prstGeom prst="rect">
            <a:avLst/>
          </a:prstGeom>
          <a:solidFill>
            <a:srgbClr val="1A7A4A">
              <a:alpha val="7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77440" y="1143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 ML Smart Irrigation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11480" y="2331720"/>
            <a:ext cx="393192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468880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496312"/>
            <a:ext cx="722376" cy="7223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4048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Input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1417320" y="27523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temperature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crop type as inputs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2331720"/>
            <a:ext cx="393192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2468880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496312"/>
            <a:ext cx="722376" cy="7223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3560" y="24048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Engine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5623560" y="27523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irrigation need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11480" y="3611880"/>
            <a:ext cx="393192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776472"/>
            <a:ext cx="722376" cy="7223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6850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1417320" y="403250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turns ON/OFF based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model output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617720" y="3611880"/>
            <a:ext cx="3931920" cy="1143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54880" y="3749040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3776472"/>
            <a:ext cx="722376" cy="7223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23560" y="36850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Dashboard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5623560" y="403250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display of decision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model confidence</a:t>
            </a:r>
            <a:endParaRPr lang="en-US" sz="11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14300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143000"/>
            <a:ext cx="39319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325880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362456"/>
            <a:ext cx="841248" cy="8412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18488" y="13075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18488" y="1645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v3.10+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618488" y="18928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for data processing, model training, and simulation interface.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114300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1143000"/>
            <a:ext cx="393192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82312" y="1325880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362456"/>
            <a:ext cx="841248" cy="8412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24728" y="13075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824728" y="1645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824728" y="18928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for training, evaluating, and deploying the Random Forest classifier.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301752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11480" y="3017520"/>
            <a:ext cx="393192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6072" y="3200400"/>
            <a:ext cx="914400" cy="9144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236976"/>
            <a:ext cx="841248" cy="8412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18488" y="3182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618488" y="3520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618488" y="376732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method — high accuracy, handles non-linear relationships well.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617720" y="301752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17720" y="3017520"/>
            <a:ext cx="393192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82312" y="3200400"/>
            <a:ext cx="914400" cy="9144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236976"/>
            <a:ext cx="841248" cy="8412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824728" y="3182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824728" y="3520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824728" y="376732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GPU-enabled notebook environment for model training and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115568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115568"/>
            <a:ext cx="19202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261872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298448"/>
            <a:ext cx="841248" cy="8412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" y="2267712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670048"/>
            <a:ext cx="1463040" cy="292608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" y="2679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100%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303580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predictor — drives pump ON/OFF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" y="4370832"/>
            <a:ext cx="128016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4379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496312" y="1115568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96312" y="1115568"/>
            <a:ext cx="19202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999232" y="1261872"/>
            <a:ext cx="914400" cy="9144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1298448"/>
            <a:ext cx="841248" cy="8412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69464" y="2267712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724912" y="2670048"/>
            <a:ext cx="1463040" cy="292608"/>
          </a:xfrm>
          <a:prstGeom prst="rect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679192" y="2679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50°C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587752" y="303580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evaporation &amp; crop water demand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816352" y="4370832"/>
            <a:ext cx="128016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770632" y="4379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581144" y="1115568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81144" y="1115568"/>
            <a:ext cx="19202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84064" y="1261872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298448"/>
            <a:ext cx="841248" cy="8412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54296" y="2267712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809744" y="2670048"/>
            <a:ext cx="1463040" cy="292608"/>
          </a:xfrm>
          <a:prstGeom prst="rect">
            <a:avLst/>
          </a:prstGeom>
          <a:solidFill>
            <a:srgbClr val="1A7A4A">
              <a:alpha val="2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64024" y="2679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672584" y="303580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crops have varied water needs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901184" y="4370832"/>
            <a:ext cx="1280160" cy="2377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855464" y="4379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665976" y="1115568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665976" y="1115568"/>
            <a:ext cx="19202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168896" y="1261872"/>
            <a:ext cx="914400" cy="9144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1298448"/>
            <a:ext cx="841248" cy="8412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739128" y="2267712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Status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6894576" y="2670048"/>
            <a:ext cx="1463040" cy="292608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848856" y="2679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OFF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6757416" y="303580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model prediction output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6986016" y="4370832"/>
            <a:ext cx="1280160" cy="2377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940296" y="43799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88720"/>
            <a:ext cx="1508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129844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" y="1874520"/>
            <a:ext cx="1005840" cy="1005840"/>
          </a:xfrm>
          <a:prstGeom prst="ellipse">
            <a:avLst/>
          </a:prstGeom>
          <a:solidFill>
            <a:srgbClr val="1565C0">
              <a:alpha val="85000"/>
            </a:srgbClr>
          </a:solidFill>
          <a:ln w="254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920240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" y="2971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11480" y="33101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Temp, Crop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874520" y="2304288"/>
            <a:ext cx="1828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38528" y="221284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057400" y="118872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057400" y="1188720"/>
            <a:ext cx="1508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578608" y="129844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7860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2304288" y="1874520"/>
            <a:ext cx="1005840" cy="1005840"/>
          </a:xfrm>
          <a:prstGeom prst="ellipse">
            <a:avLst/>
          </a:prstGeom>
          <a:solidFill>
            <a:srgbClr val="00897B">
              <a:alpha val="85000"/>
            </a:srgbClr>
          </a:solidFill>
          <a:ln w="25400">
            <a:solidFill>
              <a:srgbClr val="00897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1920240"/>
            <a:ext cx="914400" cy="9144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03120" y="2971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103120" y="33101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 Clean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566160" y="2304288"/>
            <a:ext cx="1828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30168" y="221284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749040" y="118872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749040" y="1188720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270248" y="1298448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27024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3995928" y="1874520"/>
            <a:ext cx="1005840" cy="1005840"/>
          </a:xfrm>
          <a:prstGeom prst="ellipse">
            <a:avLst/>
          </a:prstGeom>
          <a:solidFill>
            <a:srgbClr val="1A7A4A">
              <a:alpha val="85000"/>
            </a:srgbClr>
          </a:solidFill>
          <a:ln w="25400">
            <a:solidFill>
              <a:srgbClr val="1A7A4A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1920240"/>
            <a:ext cx="914400" cy="9144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794760" y="2971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3794760" y="33101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257800" y="2304288"/>
            <a:ext cx="1828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321808" y="221284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440680" y="118872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440680" y="1188720"/>
            <a:ext cx="1508760" cy="6400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961888" y="1298448"/>
            <a:ext cx="457200" cy="45720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96188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5687568" y="1874520"/>
            <a:ext cx="1005840" cy="1005840"/>
          </a:xfrm>
          <a:prstGeom prst="ellipse">
            <a:avLst/>
          </a:prstGeom>
          <a:solidFill>
            <a:srgbClr val="7C2D12">
              <a:alpha val="85000"/>
            </a:srgbClr>
          </a:solidFill>
          <a:ln w="25400">
            <a:solidFill>
              <a:srgbClr val="7C2D12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1920240"/>
            <a:ext cx="914400" cy="9144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486400" y="2971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5486400" y="33101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Irrigate? Y/N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949440" y="2304288"/>
            <a:ext cx="1828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013448" y="221284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7132320" y="118872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7132320" y="1188720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7653528" y="1298448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65352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4"/>
          <p:cNvSpPr/>
          <p:nvPr/>
        </p:nvSpPr>
        <p:spPr>
          <a:xfrm>
            <a:off x="7379208" y="1874520"/>
            <a:ext cx="1005840" cy="1005840"/>
          </a:xfrm>
          <a:prstGeom prst="ellipse">
            <a:avLst/>
          </a:prstGeom>
          <a:solidFill>
            <a:srgbClr val="1A7A4A">
              <a:alpha val="85000"/>
            </a:srgbClr>
          </a:solidFill>
          <a:ln w="25400">
            <a:solidFill>
              <a:srgbClr val="1A7A4A"/>
            </a:solidFill>
            <a:prstDash val="solid"/>
          </a:ln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920240"/>
            <a:ext cx="914400" cy="9144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7178040" y="2971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Output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7178040" y="33101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ON / OFF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411480" y="3840480"/>
            <a:ext cx="8321040" cy="1051560"/>
          </a:xfrm>
          <a:prstGeom prst="rect">
            <a:avLst/>
          </a:prstGeom>
          <a:solidFill>
            <a:srgbClr val="D4F5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94360" y="391363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Phase: </a:t>
            </a: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→ Feature extraction → Random Forest training → Model evaluation (Accuracy, Precision, Recall)
</a:t>
            </a:r>
            <a:r>
              <a:rPr lang="en-US" sz="11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Phase: </a:t>
            </a: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 input → Trained model → Binary prediction → Pump command issued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Model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3931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Random Forest?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664208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multiple decision trees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votes; majority wins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significantly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well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numerical &amp; categorical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prediction — ideal for real-time use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251960"/>
            <a:ext cx="329184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26110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Accuracy: ~92–95%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1143000"/>
            <a:ext cx="1920240" cy="5029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920240"/>
            <a:ext cx="123444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9202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2651760"/>
            <a:ext cx="822960" cy="365760"/>
          </a:xfrm>
          <a:prstGeom prst="rect">
            <a:avLst/>
          </a:prstGeom>
          <a:solidFill>
            <a:srgbClr val="42A5F5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9240" y="2651760"/>
            <a:ext cx="822960" cy="365760"/>
          </a:xfrm>
          <a:prstGeom prst="rect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1920240"/>
            <a:ext cx="123444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9202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52160" y="2651760"/>
            <a:ext cx="822960" cy="365760"/>
          </a:xfrm>
          <a:prstGeom prst="rect">
            <a:avLst/>
          </a:prstGeom>
          <a:solidFill>
            <a:srgbClr val="42A5F5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20840" y="2651760"/>
            <a:ext cx="822960" cy="365760"/>
          </a:xfrm>
          <a:prstGeom prst="rect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084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680960" y="1920240"/>
            <a:ext cx="123444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0" y="19202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15200" y="2651760"/>
            <a:ext cx="822960" cy="365760"/>
          </a:xfrm>
          <a:prstGeom prst="rect">
            <a:avLst/>
          </a:prstGeom>
          <a:solidFill>
            <a:srgbClr val="42A5F5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83880" y="2651760"/>
            <a:ext cx="822960" cy="365760"/>
          </a:xfrm>
          <a:prstGeom prst="rect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83880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0" y="3337560"/>
            <a:ext cx="26517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486400" y="4114800"/>
            <a:ext cx="265176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IRRIGATE: YES / NO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Demo — Prototype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503920" y="2286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74063"/>
            <a:ext cx="5029200" cy="3611880"/>
          </a:xfrm>
          <a:prstGeom prst="rect">
            <a:avLst/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43000"/>
            <a:ext cx="50292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16128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Python Simulation — Google Colab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572768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Demo Works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1691640"/>
            <a:ext cx="411480" cy="4114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1709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sensor values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286000"/>
            <a:ext cx="411480" cy="4114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encoded and normalized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60720" y="2880360"/>
            <a:ext cx="411480" cy="4114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2898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predicts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760720" y="3474720"/>
            <a:ext cx="411480" cy="4114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34930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Pump ON or OFF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760720" y="4069080"/>
            <a:ext cx="411480" cy="4114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63640" y="4087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displayed with confidence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Software-based simulation — no physical hardware required for prototype validation.</a:t>
            </a:r>
            <a:endParaRPr lang="en-US" sz="1000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3" y="1502664"/>
            <a:ext cx="4955814" cy="3203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3977640" cy="2377440"/>
          </a:xfrm>
          <a:prstGeom prst="rect">
            <a:avLst/>
          </a:prstGeom>
          <a:solidFill>
            <a:srgbClr val="FFF7ED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097280"/>
            <a:ext cx="397764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20700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SOIL MOISTURE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&lt; 400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329184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PUMP ON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94360" y="2880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required immediately.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activates pump to supply water.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097280"/>
            <a:ext cx="3977640" cy="2377440"/>
          </a:xfrm>
          <a:prstGeom prst="rect">
            <a:avLst/>
          </a:prstGeom>
          <a:solidFill>
            <a:srgbClr val="F0FDF4"/>
          </a:solidFill>
          <a:ln w="254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097280"/>
            <a:ext cx="39776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344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20700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SOIL MOISTURE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3776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&gt; 400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120640" y="2103120"/>
            <a:ext cx="329184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12064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PUMP OFF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4937760" y="2880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has sufficient moisture.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keeps pump off to conserve water.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11480" y="3767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411480" y="4407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2496312" y="3767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0" name="Text 25"/>
          <p:cNvSpPr/>
          <p:nvPr/>
        </p:nvSpPr>
        <p:spPr>
          <a:xfrm>
            <a:off x="2496312" y="4407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81144" y="3767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4" name="Text 29"/>
          <p:cNvSpPr/>
          <p:nvPr/>
        </p:nvSpPr>
        <p:spPr>
          <a:xfrm>
            <a:off x="4581144" y="4407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665976" y="3767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8" name="Text 33"/>
          <p:cNvSpPr/>
          <p:nvPr/>
        </p:nvSpPr>
        <p:spPr>
          <a:xfrm>
            <a:off x="6665976" y="4407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Environmental Impact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114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Advantages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14813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481328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1848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572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97280" y="1911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40–60% water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irrigation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423160" y="14813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23160" y="1481328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16184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1572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Efficiency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108960" y="1911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optimal moisture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crop yield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11480" y="26243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11480" y="2624328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6148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715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Decisions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097280" y="3054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learns and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crop patterns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423160" y="26243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423160" y="2624328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276148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108960" y="2715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Effort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3108960" y="3054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— no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supervision needed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11480" y="37673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11480" y="3767328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97280" y="3858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1097280" y="4197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bills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labour costs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2423160" y="37673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2423160" y="3767328"/>
            <a:ext cx="64008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904488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108960" y="3858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3108960" y="4197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Software-first approach —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PC/cloud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4434840" y="1024128"/>
            <a:ext cx="45720" cy="3886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4663440" y="15087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754880" y="1618488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636776"/>
            <a:ext cx="493776" cy="49377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94960" y="1554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600" dirty="0"/>
          </a:p>
        </p:txBody>
      </p:sp>
      <p:sp>
        <p:nvSpPr>
          <p:cNvPr id="44" name="Text 34"/>
          <p:cNvSpPr/>
          <p:nvPr/>
        </p:nvSpPr>
        <p:spPr>
          <a:xfrm>
            <a:off x="6263640" y="16184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wasted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4663440" y="237744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754880" y="2487168"/>
            <a:ext cx="530352" cy="5303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505456"/>
            <a:ext cx="493776" cy="49377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394960" y="2423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600" dirty="0"/>
          </a:p>
        </p:txBody>
      </p:sp>
      <p:sp>
        <p:nvSpPr>
          <p:cNvPr id="49" name="Text 38"/>
          <p:cNvSpPr/>
          <p:nvPr/>
        </p:nvSpPr>
        <p:spPr>
          <a:xfrm>
            <a:off x="6263640" y="2487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use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4663440" y="32461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4754880" y="3355848"/>
            <a:ext cx="530352" cy="53035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3374136"/>
            <a:ext cx="493776" cy="493776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394960" y="3291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600" dirty="0"/>
          </a:p>
        </p:txBody>
      </p:sp>
      <p:sp>
        <p:nvSpPr>
          <p:cNvPr id="54" name="Text 42"/>
          <p:cNvSpPr/>
          <p:nvPr/>
        </p:nvSpPr>
        <p:spPr>
          <a:xfrm>
            <a:off x="6263640" y="33558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fertilizer runoff</a:t>
            </a:r>
            <a:endParaRPr lang="en-US" sz="1200" dirty="0"/>
          </a:p>
        </p:txBody>
      </p:sp>
      <p:sp>
        <p:nvSpPr>
          <p:cNvPr id="55" name="Shape 43"/>
          <p:cNvSpPr/>
          <p:nvPr/>
        </p:nvSpPr>
        <p:spPr>
          <a:xfrm>
            <a:off x="4663440" y="411480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4754880" y="4224528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168" y="4242816"/>
            <a:ext cx="493776" cy="493776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394960" y="4160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600" dirty="0"/>
          </a:p>
        </p:txBody>
      </p:sp>
      <p:sp>
        <p:nvSpPr>
          <p:cNvPr id="59" name="Text 46"/>
          <p:cNvSpPr/>
          <p:nvPr/>
        </p:nvSpPr>
        <p:spPr>
          <a:xfrm>
            <a:off x="6263640" y="422452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groundwater conservation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82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503920" y="2286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11480" y="1143000"/>
            <a:ext cx="265176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07592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344168"/>
            <a:ext cx="704088" cy="7040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1280160"/>
            <a:ext cx="7772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103120" y="12801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2130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Integration</a:t>
            </a:r>
            <a:endParaRPr lang="en-US" sz="11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502920" y="24780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physical soil moisture, temperature, and humidity sensors via Wi-Fi/Bluetooth for live field data collection.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3264408" y="1143000"/>
            <a:ext cx="265176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29000" y="1307592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1344168"/>
            <a:ext cx="704088" cy="7040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956048" y="1280160"/>
            <a:ext cx="7772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956048" y="12801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55848" y="2130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Connectivity</a:t>
            </a:r>
            <a:endParaRPr lang="en-US" sz="11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3355848" y="24780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Android/iOS app allowing farmers to monitor and control irrigation remotely from anywhere.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117336" y="1143000"/>
            <a:ext cx="265176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81928" y="1307592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1344168"/>
            <a:ext cx="704088" cy="70408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808976" y="1280160"/>
            <a:ext cx="7772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808976" y="12801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208776" y="2130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1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6208776" y="24780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monitoring panel with live charts, alerts, and historical data for data-driven farm management.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Shape 21"/>
          <p:cNvSpPr/>
          <p:nvPr/>
        </p:nvSpPr>
        <p:spPr>
          <a:xfrm>
            <a:off x="411480" y="3063240"/>
            <a:ext cx="265176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76072" y="3227832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264408"/>
            <a:ext cx="704088" cy="70408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2103120" y="3200400"/>
            <a:ext cx="7772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103120" y="32004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02920" y="4050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 Intelligence</a:t>
            </a:r>
            <a:endParaRPr lang="en-US" sz="11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3" name="Text 26"/>
          <p:cNvSpPr/>
          <p:nvPr/>
        </p:nvSpPr>
        <p:spPr>
          <a:xfrm>
            <a:off x="502920" y="4398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ML model to support 50+ crop types with region-specific and season-aware water recommendations.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Shape 27"/>
          <p:cNvSpPr/>
          <p:nvPr/>
        </p:nvSpPr>
        <p:spPr>
          <a:xfrm>
            <a:off x="3264408" y="3063240"/>
            <a:ext cx="265176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429000" y="3227832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5576" y="3264408"/>
            <a:ext cx="704088" cy="704088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956048" y="3200400"/>
            <a:ext cx="7772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956048" y="32004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355848" y="4050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Upgrade</a:t>
            </a:r>
            <a:endParaRPr lang="en-US" sz="11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0" name="Text 32"/>
          <p:cNvSpPr/>
          <p:nvPr/>
        </p:nvSpPr>
        <p:spPr>
          <a:xfrm>
            <a:off x="3355848" y="4398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 neural networks for time-series soil data to improve long-term irrigation forecasting.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Shape 33"/>
          <p:cNvSpPr/>
          <p:nvPr/>
        </p:nvSpPr>
        <p:spPr>
          <a:xfrm>
            <a:off x="6117336" y="3063240"/>
            <a:ext cx="265176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281928" y="3227832"/>
            <a:ext cx="77724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8504" y="3264408"/>
            <a:ext cx="704088" cy="70408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7808976" y="3200400"/>
            <a:ext cx="7772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808976" y="32004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6208776" y="4050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Farmer-Facing API</a:t>
            </a:r>
            <a:endParaRPr lang="en-US" sz="11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7" name="Text 38"/>
          <p:cNvSpPr/>
          <p:nvPr/>
        </p:nvSpPr>
        <p:spPr>
          <a:xfrm>
            <a:off x="6208776" y="4398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public REST API so AgriTech companies can integrate our prediction engine into their platforms.</a:t>
            </a:r>
            <a:endParaRPr lang="en-US" sz="95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170432"/>
            <a:ext cx="7955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AI-based smart irrigation system successfully demonstrates how Machine Learning can solve one of agriculture's biggest challenges — inefficient water management.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212848"/>
            <a:ext cx="1920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2212848"/>
            <a:ext cx="19202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340864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377440"/>
            <a:ext cx="841248" cy="8412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3749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achieves ~93.8% accuracy in predicting irrigation needs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496312" y="2212848"/>
            <a:ext cx="1920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96312" y="2212848"/>
            <a:ext cx="19202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999232" y="2340864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2377440"/>
            <a:ext cx="841248" cy="8412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69464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Water-Smart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587752" y="3749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wastage by 40–60% compared to manual irrigation methods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81144" y="2212848"/>
            <a:ext cx="1920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81144" y="2212848"/>
            <a:ext cx="19202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84064" y="2340864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377440"/>
            <a:ext cx="841248" cy="8412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54296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672584" y="3749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eco-friendly agriculture aligned with UN Sustainable Development Goals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665976" y="2212848"/>
            <a:ext cx="1920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665976" y="2212848"/>
            <a:ext cx="19202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68896" y="2340864"/>
            <a:ext cx="914400" cy="9144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377440"/>
            <a:ext cx="841248" cy="8412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39128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757416" y="37490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Software-first design enables easy scaling with IoT and mobile integration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11480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"Precision meets sustainability — AI transforms how the world grows food."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DG Goals">
    <p:bg>
      <p:bgPr>
        <a:solidFill>
          <a:srgbClr val="F0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</p:spPr>
      </p:sp>
      <p:sp>
        <p:nvSpPr>
          <p:cNvPr id="3" name="HeaderBar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4A2E"/>
          </a:solidFill>
        </p:spPr>
      </p:sp>
      <p:sp>
        <p:nvSpPr>
          <p:cNvPr id="4" name="SlideNum"/>
          <p:cNvSpPr/>
          <p:nvPr/>
        </p:nvSpPr>
        <p:spPr>
          <a:xfrm>
            <a:off x="8503920" y="91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</a:rPr>
              <a:t>16</a:t>
            </a:r>
          </a:p>
        </p:txBody>
      </p:sp>
      <p:sp>
        <p:nvSpPr>
          <p:cNvPr id="5" name="Title"/>
          <p:cNvSpPr/>
          <p:nvPr/>
        </p:nvSpPr>
        <p:spPr>
          <a:xfrm>
            <a:off x="320040" y="45720"/>
            <a:ext cx="800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SDG Alignment</a:t>
            </a:r>
          </a:p>
        </p:txBody>
      </p:sp>
      <p:sp>
        <p:nvSpPr>
          <p:cNvPr id="6" name="SubtitleBanner"/>
          <p:cNvSpPr/>
          <p:nvPr/>
        </p:nvSpPr>
        <p:spPr>
          <a:xfrm>
            <a:off x="411480" y="1005840"/>
            <a:ext cx="8321040" cy="548640"/>
          </a:xfrm>
          <a:prstGeom prst="rect">
            <a:avLst/>
          </a:prstGeom>
          <a:solidFill>
            <a:srgbClr val="1A7A4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This project supports 3 UN Sustainable Development Goals through AI-powered precision agriculture</a:t>
            </a:r>
          </a:p>
        </p:txBody>
      </p:sp>
      <p:sp>
        <p:nvSpPr>
          <p:cNvPr id="10" name="SDG2Card"/>
          <p:cNvSpPr/>
          <p:nvPr/>
        </p:nvSpPr>
        <p:spPr>
          <a:xfrm>
            <a:off x="411480" y="1645920"/>
            <a:ext cx="2652840" cy="310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DG2Accent"/>
          <p:cNvSpPr/>
          <p:nvPr/>
        </p:nvSpPr>
        <p:spPr>
          <a:xfrm>
            <a:off x="411480" y="1645920"/>
            <a:ext cx="2652840" cy="91440"/>
          </a:xfrm>
          <a:prstGeom prst="rect">
            <a:avLst/>
          </a:prstGeom>
          <a:solidFill>
            <a:srgbClr val="DDA63A"/>
          </a:solidFill>
        </p:spPr>
      </p:sp>
      <p:sp>
        <p:nvSpPr>
          <p:cNvPr id="12" name="SDG2Circle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DDA63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</a:rPr>
              <a:t>2</a:t>
            </a:r>
          </a:p>
        </p:txBody>
      </p:sp>
      <p:sp>
        <p:nvSpPr>
          <p:cNvPr id="13" name="SDG2Label"/>
          <p:cNvSpPr/>
          <p:nvPr/>
        </p:nvSpPr>
        <p:spPr>
          <a:xfrm>
            <a:off x="457200" y="274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DA63A"/>
                </a:solidFill>
                <a:latin typeface="Trebuchet MS" pitchFamily="34" charset="0"/>
              </a:rPr>
              <a:t>Zero Hunger</a:t>
            </a:r>
          </a:p>
        </p:txBody>
      </p:sp>
      <p:sp>
        <p:nvSpPr>
          <p:cNvPr id="14" name="SDG2Desc"/>
          <p:cNvSpPr/>
          <p:nvPr/>
        </p:nvSpPr>
        <p:spPr>
          <a:xfrm>
            <a:off x="457200" y="3144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Optimal irrigation boosts crop yield, reducing food insecurity and supporting sustainable agriculture for growing populations.</a:t>
            </a:r>
          </a:p>
        </p:txBody>
      </p:sp>
      <p:sp>
        <p:nvSpPr>
          <p:cNvPr id="15" name="SDG2Tag"/>
          <p:cNvSpPr/>
          <p:nvPr/>
        </p:nvSpPr>
        <p:spPr>
          <a:xfrm>
            <a:off x="594360" y="4380360"/>
            <a:ext cx="1371600" cy="274638"/>
          </a:xfrm>
          <a:prstGeom prst="roundRect">
            <a:avLst>
              <a:gd name="adj" fmla="val 16667"/>
            </a:avLst>
          </a:prstGeom>
          <a:solidFill>
            <a:srgbClr val="FFF3C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5200"/>
                </a:solidFill>
                <a:latin typeface="Calibri" pitchFamily="34" charset="0"/>
              </a:rPr>
              <a:t>Food Security</a:t>
            </a:r>
          </a:p>
        </p:txBody>
      </p:sp>
      <p:sp>
        <p:nvSpPr>
          <p:cNvPr id="20" name="SDG6Card"/>
          <p:cNvSpPr/>
          <p:nvPr/>
        </p:nvSpPr>
        <p:spPr>
          <a:xfrm>
            <a:off x="3247560" y="1645920"/>
            <a:ext cx="2652840" cy="310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DG6Accent"/>
          <p:cNvSpPr/>
          <p:nvPr/>
        </p:nvSpPr>
        <p:spPr>
          <a:xfrm>
            <a:off x="3247560" y="1645920"/>
            <a:ext cx="2652840" cy="91440"/>
          </a:xfrm>
          <a:prstGeom prst="rect">
            <a:avLst/>
          </a:prstGeom>
          <a:solidFill>
            <a:srgbClr val="26BDE2"/>
          </a:solidFill>
        </p:spPr>
      </p:sp>
      <p:sp>
        <p:nvSpPr>
          <p:cNvPr id="22" name="SDG6Circle"/>
          <p:cNvSpPr/>
          <p:nvPr/>
        </p:nvSpPr>
        <p:spPr>
          <a:xfrm>
            <a:off x="3658800" y="1828800"/>
            <a:ext cx="822960" cy="822960"/>
          </a:xfrm>
          <a:prstGeom prst="ellipse">
            <a:avLst/>
          </a:prstGeom>
          <a:solidFill>
            <a:srgbClr val="26BDE2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</a:rPr>
              <a:t>6</a:t>
            </a:r>
          </a:p>
        </p:txBody>
      </p:sp>
      <p:sp>
        <p:nvSpPr>
          <p:cNvPr id="23" name="SDG6Label"/>
          <p:cNvSpPr/>
          <p:nvPr/>
        </p:nvSpPr>
        <p:spPr>
          <a:xfrm>
            <a:off x="3293280" y="274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A0"/>
                </a:solidFill>
                <a:latin typeface="Trebuchet MS" pitchFamily="34" charset="0"/>
              </a:rPr>
              <a:t>Clean Water &amp; Sanitation</a:t>
            </a:r>
          </a:p>
        </p:txBody>
      </p:sp>
      <p:sp>
        <p:nvSpPr>
          <p:cNvPr id="24" name="SDG6Desc"/>
          <p:cNvSpPr/>
          <p:nvPr/>
        </p:nvSpPr>
        <p:spPr>
          <a:xfrm>
            <a:off x="3293280" y="3144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Reducing water wastage by 40-60% conserves freshwater resources and promotes sustainable water use in agriculture.</a:t>
            </a:r>
          </a:p>
        </p:txBody>
      </p:sp>
      <p:sp>
        <p:nvSpPr>
          <p:cNvPr id="25" name="SDG6Tag"/>
          <p:cNvSpPr/>
          <p:nvPr/>
        </p:nvSpPr>
        <p:spPr>
          <a:xfrm>
            <a:off x="3430440" y="4380360"/>
            <a:ext cx="1371600" cy="274638"/>
          </a:xfrm>
          <a:prstGeom prst="roundRect">
            <a:avLst>
              <a:gd name="adj" fmla="val 16667"/>
            </a:avLst>
          </a:prstGeom>
          <a:solidFill>
            <a:srgbClr val="D0F0F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A6B"/>
                </a:solidFill>
                <a:latin typeface="Calibri" pitchFamily="34" charset="0"/>
              </a:rPr>
              <a:t>Water Conservation</a:t>
            </a:r>
          </a:p>
        </p:txBody>
      </p:sp>
      <p:sp>
        <p:nvSpPr>
          <p:cNvPr id="30" name="SDG13Card"/>
          <p:cNvSpPr/>
          <p:nvPr/>
        </p:nvSpPr>
        <p:spPr>
          <a:xfrm>
            <a:off x="6083640" y="1645920"/>
            <a:ext cx="2652840" cy="310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DG13Accent"/>
          <p:cNvSpPr/>
          <p:nvPr/>
        </p:nvSpPr>
        <p:spPr>
          <a:xfrm>
            <a:off x="6083640" y="1645920"/>
            <a:ext cx="2652840" cy="91440"/>
          </a:xfrm>
          <a:prstGeom prst="rect">
            <a:avLst/>
          </a:prstGeom>
          <a:solidFill>
            <a:srgbClr val="3F7E44"/>
          </a:solidFill>
        </p:spPr>
      </p:sp>
      <p:sp>
        <p:nvSpPr>
          <p:cNvPr id="32" name="SDG13Circle"/>
          <p:cNvSpPr/>
          <p:nvPr/>
        </p:nvSpPr>
        <p:spPr>
          <a:xfrm>
            <a:off x="6494880" y="1828800"/>
            <a:ext cx="822960" cy="822960"/>
          </a:xfrm>
          <a:prstGeom prst="ellipse">
            <a:avLst/>
          </a:prstGeom>
          <a:solidFill>
            <a:srgbClr val="3F7E44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</a:rPr>
              <a:t>13</a:t>
            </a:r>
          </a:p>
        </p:txBody>
      </p:sp>
      <p:sp>
        <p:nvSpPr>
          <p:cNvPr id="33" name="SDG13Label"/>
          <p:cNvSpPr/>
          <p:nvPr/>
        </p:nvSpPr>
        <p:spPr>
          <a:xfrm>
            <a:off x="6129360" y="274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7E44"/>
                </a:solidFill>
                <a:latin typeface="Trebuchet MS" pitchFamily="34" charset="0"/>
              </a:rPr>
              <a:t>Climate Action</a:t>
            </a:r>
          </a:p>
        </p:txBody>
      </p:sp>
      <p:sp>
        <p:nvSpPr>
          <p:cNvPr id="34" name="SDG13Desc"/>
          <p:cNvSpPr/>
          <p:nvPr/>
        </p:nvSpPr>
        <p:spPr>
          <a:xfrm>
            <a:off x="6129360" y="3144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AI-driven precision farming cuts energy usage and fertilizer runoff, reducing the environmental impact of agricultural operations.</a:t>
            </a:r>
          </a:p>
        </p:txBody>
      </p:sp>
      <p:sp>
        <p:nvSpPr>
          <p:cNvPr id="35" name="SDG13Tag"/>
          <p:cNvSpPr/>
          <p:nvPr/>
        </p:nvSpPr>
        <p:spPr>
          <a:xfrm>
            <a:off x="6266520" y="4380360"/>
            <a:ext cx="1371600" cy="274638"/>
          </a:xfrm>
          <a:prstGeom prst="roundRect">
            <a:avLst>
              <a:gd name="adj" fmla="val 16667"/>
            </a:avLst>
          </a:prstGeom>
          <a:solidFill>
            <a:srgbClr val="D8EDD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A1E"/>
                </a:solidFill>
                <a:latin typeface="Calibri" pitchFamily="34" charset="0"/>
              </a:rPr>
              <a:t>Carbon Reduction</a:t>
            </a:r>
          </a:p>
        </p:txBody>
      </p:sp>
      <p:sp>
        <p:nvSpPr>
          <p:cNvPr id="40" name="Footer"/>
          <p:cNvSpPr/>
          <p:nvPr/>
        </p:nvSpPr>
        <p:spPr>
          <a:xfrm>
            <a:off x="411480" y="4826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A7A4A"/>
                </a:solidFill>
                <a:latin typeface="Calibri" pitchFamily="34" charset="0"/>
              </a:rPr>
              <a:t>United Nations Sustainable Development Goals — Agenda 2030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4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097280" cy="10972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920240"/>
            <a:ext cx="914400" cy="9144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108960"/>
            <a:ext cx="914400" cy="914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54864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9" name="Shape 4"/>
          <p:cNvSpPr/>
          <p:nvPr/>
        </p:nvSpPr>
        <p:spPr>
          <a:xfrm>
            <a:off x="457200" y="1828800"/>
            <a:ext cx="60350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199339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System Using Machine Learning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7200" y="2670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3090672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Ragav Sharma — 202401110012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Kitchloo — 202401110014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Kotwal — 202401110052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Gufran Shah — 202401110011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AI-ML  |  MIT Academy of Engineering (MITAOE), Alandi  </a:t>
            </a:r>
            <a:r>
              <a:rPr lang="en-US" sz="100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7032</TotalTime>
  <Words>1200</Words>
  <Application>Microsoft Office PowerPoint</Application>
  <PresentationFormat>On-screen Show (16:9)</PresentationFormat>
  <Paragraphs>304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Irrigation System</dc:title>
  <dc:subject>PptxGenJS Presentation</dc:subject>
  <dc:creator>MITAOE AI-ML Group</dc:creator>
  <cp:lastModifiedBy>Gufran Shah</cp:lastModifiedBy>
  <cp:revision>5</cp:revision>
  <dcterms:created xsi:type="dcterms:W3CDTF">2026-04-14T15:38:57Z</dcterms:created>
  <dcterms:modified xsi:type="dcterms:W3CDTF">2026-04-20T06:00:12Z</dcterms:modified>
</cp:coreProperties>
</file>